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0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embeddedFontLst>
    <p:embeddedFont>
      <p:font typeface="DM Sans" pitchFamily="2" charset="0"/>
      <p:regular r:id="rId16"/>
    </p:embeddedFont>
    <p:embeddedFont>
      <p:font typeface="DM Sans Bold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86" d="100"/>
          <a:sy n="186" d="100"/>
        </p:scale>
        <p:origin x="124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230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994520"/>
            <a:ext cx="656927" cy="215354"/>
          </a:xfrm>
          <a:prstGeom prst="roundRect">
            <a:avLst>
              <a:gd name="adj" fmla="val 22119"/>
            </a:avLst>
          </a:prstGeom>
          <a:solidFill>
            <a:srgbClr val="FED7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1174" y="2037011"/>
            <a:ext cx="94401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LESSON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226657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Orient to the Migration Execution Framework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92216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M09 — Migration Execution &amp; Troubleshooting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7690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Where M08 Ends, M09 Begins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2232496"/>
            <a:ext cx="4107135" cy="1334095"/>
          </a:xfrm>
          <a:prstGeom prst="roundRect">
            <a:avLst>
              <a:gd name="adj" fmla="val 7651"/>
            </a:avLst>
          </a:prstGeom>
          <a:solidFill>
            <a:srgbClr val="004F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5781" y="2374255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M08 — Readiness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737470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assigned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Pre-migration checklist complete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Readiness confirmed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37425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M09 — Execution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737470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Six-phase migration workflow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Failure diagnosis and remediation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Post-migration stabilization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243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Two Cohorts, Two Workflows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4978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Cohort 1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13000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LX APIs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Talent Marketplace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Migrated first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849785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Cohort 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213000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LX APIs in use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Talent Marketplace enabled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Migrated after Cohort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9701" y="3152031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FED7C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3367088"/>
            <a:ext cx="177180" cy="1417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10398" y="331499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Additional steps: API recoding · HRIS validation · enterprise config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926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Phase Gates — Verify Before Proceeding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95773"/>
            <a:ext cx="4004965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2056581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Phase 0 → 1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363093"/>
            <a:ext cx="36071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GCS case open · Pilot date locked · Skill Sync confirmed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1895773"/>
            <a:ext cx="4005039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2056581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Phase 1 → 2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879851" y="2363093"/>
            <a:ext cx="36072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Groups recreated · Notifications rebuilt · Integrations audited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19289"/>
            <a:ext cx="4004965" cy="8549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3127" y="3280097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Phase 2 → 3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33127" y="3586609"/>
            <a:ext cx="36071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UAT sign-off · Critical issues resolved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3119289"/>
            <a:ext cx="4005039" cy="8549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79851" y="3280097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Phase 3 → 4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879851" y="3586609"/>
            <a:ext cx="36072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Smoke tests pass · Hypercare active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4317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Who Does What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96119" y="1284163"/>
            <a:ext cx="8151763" cy="3254946"/>
          </a:xfrm>
          <a:prstGeom prst="roundRect">
            <a:avLst>
              <a:gd name="adj" fmla="val 174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96119" y="1666429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6119" y="2046312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96119" y="2426196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96119" y="2806080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6119" y="3397076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6119" y="3776960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6119" y="4156844"/>
            <a:ext cx="8151763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1030" y="1288926"/>
            <a:ext cx="2768352" cy="377503"/>
          </a:xfrm>
          <a:custGeom>
            <a:avLst/>
            <a:gdLst/>
            <a:ahLst/>
            <a:cxnLst/>
            <a:rect l="l" t="t" r="r" b="b"/>
            <a:pathLst>
              <a:path w="2768352" h="377503">
                <a:moveTo>
                  <a:pt x="47293" y="0"/>
                </a:moveTo>
                <a:lnTo>
                  <a:pt x="2768352" y="0"/>
                </a:lnTo>
                <a:lnTo>
                  <a:pt x="2768352" y="377503"/>
                </a:lnTo>
                <a:lnTo>
                  <a:pt x="0" y="377503"/>
                </a:lnTo>
                <a:lnTo>
                  <a:pt x="0" y="47293"/>
                </a:lnTo>
                <a:arcTo wR="47293" hR="47293" stAng="10800000" swAng="5400000"/>
                <a:close/>
              </a:path>
            </a:pathLst>
          </a:custGeom>
          <a:solidFill>
            <a:srgbClr val="004F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6091" y="1370930"/>
            <a:ext cx="2955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Activity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9382" y="1288926"/>
            <a:ext cx="2686869" cy="377503"/>
          </a:xfrm>
          <a:prstGeom prst="rect">
            <a:avLst/>
          </a:prstGeom>
          <a:solidFill>
            <a:srgbClr val="004F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04443" y="1370930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Cornerstone GCS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56250" y="1288926"/>
            <a:ext cx="2686869" cy="377503"/>
          </a:xfrm>
          <a:custGeom>
            <a:avLst/>
            <a:gdLst/>
            <a:ahLst/>
            <a:cxnLst/>
            <a:rect l="l" t="t" r="r" b="b"/>
            <a:pathLst>
              <a:path w="2686869" h="377503">
                <a:moveTo>
                  <a:pt x="0" y="0"/>
                </a:moveTo>
                <a:lnTo>
                  <a:pt x="2639576" y="0"/>
                </a:lnTo>
                <a:arcTo wR="47293" hR="47293" stAng="16200000" swAng="5400000"/>
                <a:lnTo>
                  <a:pt x="2686869" y="377503"/>
                </a:lnTo>
                <a:lnTo>
                  <a:pt x="0" y="377503"/>
                </a:lnTo>
                <a:lnTo>
                  <a:pt x="0" y="0"/>
                </a:lnTo>
                <a:close/>
              </a:path>
            </a:pathLst>
          </a:custGeom>
          <a:solidFill>
            <a:srgbClr val="004F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1312" y="1370930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Partner / Customer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6091" y="1750814"/>
            <a:ext cx="2955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Production-to-Stage Copy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04443" y="1750814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1312" y="1750814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Monitors / Notified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6091" y="2130698"/>
            <a:ext cx="2955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Pilot &amp; Production Migration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04443" y="2130698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Executes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91312" y="2130698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Monitors / Notified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6091" y="2510582"/>
            <a:ext cx="2955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Skill Sync Enablement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04443" y="2510582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Must execute (GCS case)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91312" y="2510582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Opens case / Cannot self-serve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6091" y="2890465"/>
            <a:ext cx="2955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Groups Recreation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04443" y="2890465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in scope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091312" y="2890465"/>
            <a:ext cx="2416746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executes / Customer provides lists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6091" y="3481462"/>
            <a:ext cx="2955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Notifications Rebuild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04443" y="3481462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in scope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91312" y="3481462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executes / Customer approves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6091" y="3861346"/>
            <a:ext cx="2955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UAT Testing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04443" y="3861346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Provides test cases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91312" y="3861346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facilitates / Customer signs off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36091" y="4241229"/>
            <a:ext cx="295542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Hypercare Support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04443" y="4241229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Elevated support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91312" y="4241229"/>
            <a:ext cx="287394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rebuilds / Customer reports</a:t>
            </a:r>
            <a:endParaRPr lang="en-US" sz="105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3362" y="131118"/>
            <a:ext cx="121444" cy="21967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89942"/>
            <a:ext cx="1103635" cy="188565"/>
          </a:xfrm>
          <a:prstGeom prst="roundRect">
            <a:avLst>
              <a:gd name="adj" fmla="val 22104"/>
            </a:avLst>
          </a:prstGeom>
          <a:solidFill>
            <a:srgbClr val="FED7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533" y="527149"/>
            <a:ext cx="141200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KNOWLEDGE CHECK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21891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KC-1 — Assign the Production-to-Stage Copy Responsibility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659731"/>
            <a:ext cx="8151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customer's Pilot migration is scheduled for Friday. The Production-to-Stage copy needs to happen the Saturday before. Which of the following correctly describes who initiates and executes this copy?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153841"/>
            <a:ext cx="4021634" cy="907554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4380" y="2292102"/>
            <a:ext cx="3745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380" y="2551063"/>
            <a:ext cx="37451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partner initiates the copy by submitting a request through the customer portal, and GCS executes it.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248" y="2153841"/>
            <a:ext cx="4021634" cy="907554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64509" y="2292102"/>
            <a:ext cx="3745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4509" y="2551063"/>
            <a:ext cx="37451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Cornerstone GCS executes the copy automatically on the scheduled Saturday — no partner action is required.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169890"/>
            <a:ext cx="4021634" cy="907554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380" y="3308152"/>
            <a:ext cx="3745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380" y="3567112"/>
            <a:ext cx="37451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customer's IT Lead initiates the copy from the admin console, and GCS monitors the process.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248" y="3169890"/>
            <a:ext cx="4021634" cy="907554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64509" y="3308152"/>
            <a:ext cx="3745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4509" y="3567112"/>
            <a:ext cx="37451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partner executes the copy using migration tools provided by Cornerstone, with GCS on standby.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6119" y="4199483"/>
            <a:ext cx="8151763" cy="454075"/>
          </a:xfrm>
          <a:prstGeom prst="roundRect">
            <a:avLst>
              <a:gd name="adj" fmla="val 11474"/>
            </a:avLst>
          </a:prstGeom>
          <a:solidFill>
            <a:srgbClr val="FED7C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359027"/>
            <a:ext cx="155004" cy="12397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99071" y="4338935"/>
            <a:ext cx="80820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Pause — think it through before continuing.</a:t>
            </a:r>
            <a:endParaRPr lang="en-US" sz="9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7401"/>
            <a:ext cx="779785" cy="198462"/>
          </a:xfrm>
          <a:prstGeom prst="roundRect">
            <a:avLst>
              <a:gd name="adj" fmla="val 22126"/>
            </a:avLst>
          </a:prstGeom>
          <a:solidFill>
            <a:srgbClr val="FED7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4477" y="556543"/>
            <a:ext cx="1080269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KC-1 REVEAL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64009"/>
            <a:ext cx="8151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KC-1 — Assign the Production-to-Stage Copy Responsibility (Reveal)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96119" y="1761455"/>
            <a:ext cx="4015606" cy="967978"/>
          </a:xfrm>
          <a:prstGeom prst="roundRect">
            <a:avLst>
              <a:gd name="adj" fmla="val 567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1077" y="1906414"/>
            <a:ext cx="372568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1077" y="2182788"/>
            <a:ext cx="372568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partner initiates the copy by submitting a request through the customer portal, and GCS executes it.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32201" y="1761455"/>
            <a:ext cx="4015680" cy="967978"/>
          </a:xfrm>
          <a:prstGeom prst="roundRect">
            <a:avLst>
              <a:gd name="adj" fmla="val 5671"/>
            </a:avLst>
          </a:prstGeom>
          <a:solidFill>
            <a:srgbClr val="FFFFFF"/>
          </a:solidFill>
          <a:ln w="14288">
            <a:solidFill>
              <a:srgbClr val="FA46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7160" y="1906414"/>
            <a:ext cx="37257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✓ B — Correct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77160" y="2182788"/>
            <a:ext cx="3725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Cornerstone GCS executes the copy automatically on the scheduled Saturday — no partner action is required.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6119" y="2849910"/>
            <a:ext cx="4015606" cy="967978"/>
          </a:xfrm>
          <a:prstGeom prst="roundRect">
            <a:avLst>
              <a:gd name="adj" fmla="val 567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1077" y="2994868"/>
            <a:ext cx="372568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1077" y="3271242"/>
            <a:ext cx="372568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customer's IT Lead initiates the copy from the admin console, and GCS monitors the process.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2201" y="2849910"/>
            <a:ext cx="4015680" cy="967978"/>
          </a:xfrm>
          <a:prstGeom prst="roundRect">
            <a:avLst>
              <a:gd name="adj" fmla="val 567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7160" y="2994868"/>
            <a:ext cx="37257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77160" y="3271242"/>
            <a:ext cx="3725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partner executes the copy using migration tools provided by Cornerstone, with GCS on standby.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2125" y="4088904"/>
            <a:ext cx="795575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Explanation:</a:t>
            </a:r>
            <a:r>
              <a:rPr lang="en-US" sz="10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Production-to-Stage copy is a GCS-executed activity. The partner monitors; the customer is notified. No partner action initiates or executes this step.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6119" y="3953396"/>
            <a:ext cx="14288" cy="672703"/>
          </a:xfrm>
          <a:prstGeom prst="roundRect">
            <a:avLst>
              <a:gd name="adj" fmla="val 49998"/>
            </a:avLst>
          </a:prstGeom>
          <a:solidFill>
            <a:srgbClr val="FA46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7117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What Skipping a Gate Costs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297683"/>
            <a:ext cx="2622724" cy="1274638"/>
          </a:xfrm>
          <a:prstGeom prst="roundRect">
            <a:avLst>
              <a:gd name="adj" fmla="val 4671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2640" y="2444204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Rework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750716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Undone work must be redone before production proceeds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297683"/>
            <a:ext cx="2622724" cy="1274638"/>
          </a:xfrm>
          <a:prstGeom prst="roundRect">
            <a:avLst>
              <a:gd name="adj" fmla="val 4671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07122" y="2444204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Integrity Risk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750716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Unvalidated configurations produce corrupted or missing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297683"/>
            <a:ext cx="2622724" cy="1274638"/>
          </a:xfrm>
          <a:prstGeom prst="roundRect">
            <a:avLst>
              <a:gd name="adj" fmla="val 4671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1605" y="2444204"/>
            <a:ext cx="23296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Extended Dual-Architecture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972172"/>
            <a:ext cx="232968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Legacy LX stays live longer — more cost, more complexity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4808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The Hypercare Window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949598"/>
            <a:ext cx="2668414" cy="7155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9429" y="1065758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Timing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9429" y="1268909"/>
            <a:ext cx="2378943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11–12 post-production migration · 1–2 weeks</a:t>
            </a:r>
            <a:endParaRPr lang="en-US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7756" y="949598"/>
            <a:ext cx="2668414" cy="7155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11066" y="1065758"/>
            <a:ext cx="23789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Cornerstone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411066" y="1268909"/>
            <a:ext cx="23789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Elevated support provided</a:t>
            </a:r>
            <a:endParaRPr lang="en-US" sz="8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9393" y="949598"/>
            <a:ext cx="2668488" cy="7155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2704" y="1065758"/>
            <a:ext cx="2379018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152704" y="1268909"/>
            <a:ext cx="2379018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Smoke tests Day 1–2 · Post-Migration Stabilization Report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496119" y="1772989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40404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496119" y="1922562"/>
            <a:ext cx="815176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Partner Responsibilities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48891" y="2446288"/>
            <a:ext cx="3886423" cy="101873"/>
          </a:xfrm>
          <a:prstGeom prst="roundRect">
            <a:avLst>
              <a:gd name="adj" fmla="val 42009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96119" y="2344378"/>
            <a:ext cx="305619" cy="305619"/>
          </a:xfrm>
          <a:prstGeom prst="ellipse">
            <a:avLst/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542" y="2420801"/>
            <a:ext cx="152772" cy="1527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97991" y="2723257"/>
            <a:ext cx="383552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Notifications rebuild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4761384" y="2293516"/>
            <a:ext cx="3886423" cy="101873"/>
          </a:xfrm>
          <a:prstGeom prst="roundRect">
            <a:avLst>
              <a:gd name="adj" fmla="val 42009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608612" y="2191606"/>
            <a:ext cx="305619" cy="305619"/>
          </a:xfrm>
          <a:prstGeom prst="ellipse">
            <a:avLst/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5035" y="2268029"/>
            <a:ext cx="152772" cy="1527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10485" y="2570485"/>
            <a:ext cx="383552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Reports rebuild (Reporting 2.0)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648891" y="3293046"/>
            <a:ext cx="3886423" cy="101873"/>
          </a:xfrm>
          <a:prstGeom prst="roundRect">
            <a:avLst>
              <a:gd name="adj" fmla="val 42009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496119" y="3191135"/>
            <a:ext cx="305619" cy="305619"/>
          </a:xfrm>
          <a:prstGeom prst="ellipse">
            <a:avLst/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542" y="3267559"/>
            <a:ext cx="152772" cy="1527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97991" y="3570015"/>
            <a:ext cx="383552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Third-party integrations reconfigured</a:t>
            </a:r>
            <a:endParaRPr lang="en-US" sz="800" dirty="0"/>
          </a:p>
        </p:txBody>
      </p:sp>
      <p:sp>
        <p:nvSpPr>
          <p:cNvPr id="26" name="Shape 18"/>
          <p:cNvSpPr/>
          <p:nvPr/>
        </p:nvSpPr>
        <p:spPr>
          <a:xfrm>
            <a:off x="4761384" y="3140273"/>
            <a:ext cx="3886423" cy="101873"/>
          </a:xfrm>
          <a:prstGeom prst="roundRect">
            <a:avLst>
              <a:gd name="adj" fmla="val 42009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4608612" y="3038363"/>
            <a:ext cx="305619" cy="305619"/>
          </a:xfrm>
          <a:prstGeom prst="ellipse">
            <a:avLst/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5035" y="3114787"/>
            <a:ext cx="152772" cy="1527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710485" y="3417243"/>
            <a:ext cx="383552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Deeplinks remapped to SmartCards</a:t>
            </a:r>
            <a:endParaRPr lang="en-US" sz="800" dirty="0"/>
          </a:p>
        </p:txBody>
      </p:sp>
      <p:sp>
        <p:nvSpPr>
          <p:cNvPr id="30" name="Shape 21"/>
          <p:cNvSpPr/>
          <p:nvPr/>
        </p:nvSpPr>
        <p:spPr>
          <a:xfrm>
            <a:off x="648891" y="4139803"/>
            <a:ext cx="3886423" cy="101873"/>
          </a:xfrm>
          <a:prstGeom prst="roundRect">
            <a:avLst>
              <a:gd name="adj" fmla="val 42009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2"/>
          <p:cNvSpPr/>
          <p:nvPr/>
        </p:nvSpPr>
        <p:spPr>
          <a:xfrm>
            <a:off x="496119" y="4037893"/>
            <a:ext cx="305619" cy="305619"/>
          </a:xfrm>
          <a:prstGeom prst="ellipse">
            <a:avLst/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542" y="4114316"/>
            <a:ext cx="152772" cy="15277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97991" y="4416772"/>
            <a:ext cx="383552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Navigation and OUs finalized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4761384" y="3987031"/>
            <a:ext cx="3886423" cy="101873"/>
          </a:xfrm>
          <a:prstGeom prst="roundRect">
            <a:avLst>
              <a:gd name="adj" fmla="val 42009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5"/>
          <p:cNvSpPr/>
          <p:nvPr/>
        </p:nvSpPr>
        <p:spPr>
          <a:xfrm>
            <a:off x="4608612" y="3885121"/>
            <a:ext cx="305619" cy="305619"/>
          </a:xfrm>
          <a:prstGeom prst="ellipse">
            <a:avLst/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5035" y="3961544"/>
            <a:ext cx="152772" cy="15277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4710485" y="4264000"/>
            <a:ext cx="383552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End-user training delivered</a:t>
            </a:r>
            <a:endParaRPr lang="en-US" sz="80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83716"/>
            <a:ext cx="1103635" cy="188565"/>
          </a:xfrm>
          <a:prstGeom prst="roundRect">
            <a:avLst>
              <a:gd name="adj" fmla="val 22104"/>
            </a:avLst>
          </a:prstGeom>
          <a:solidFill>
            <a:srgbClr val="FED7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0533" y="720923"/>
            <a:ext cx="1412007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KNOWLEDGE CHECK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91566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KC-2 — Choose the Correct Hypercare Responsibility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65957"/>
            <a:ext cx="8151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is Day 3 of the hypercare window. Your customer reports that several edcast.com links embedded in their internal portal are returning errors. Which of the following correctly describes your responsibility as the partner?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960066"/>
            <a:ext cx="4021634" cy="907554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4380" y="2098328"/>
            <a:ext cx="3745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380" y="2357289"/>
            <a:ext cx="37451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Escalate to Cornerstone GCS — deeplink reconfiguration is a GCS responsibility during hypercare.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26248" y="1960066"/>
            <a:ext cx="4021634" cy="907554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64509" y="2098328"/>
            <a:ext cx="3745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4509" y="2357289"/>
            <a:ext cx="37451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Remap the broken edcast.com deeplinks to SmartCard links and test each one in the customer environment.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2976116"/>
            <a:ext cx="4021634" cy="907554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380" y="3114377"/>
            <a:ext cx="3745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4380" y="3373338"/>
            <a:ext cx="37451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 the customer that deeplink redirects will be available in the November 2026 release.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26248" y="2976116"/>
            <a:ext cx="4021634" cy="907554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64509" y="3114377"/>
            <a:ext cx="374511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64509" y="3373338"/>
            <a:ext cx="3745111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a support case and wait for Cornerstone Engineering to restore the original deeplinks.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6119" y="4005709"/>
            <a:ext cx="8151763" cy="454075"/>
          </a:xfrm>
          <a:prstGeom prst="roundRect">
            <a:avLst>
              <a:gd name="adj" fmla="val 11474"/>
            </a:avLst>
          </a:prstGeom>
          <a:solidFill>
            <a:srgbClr val="FED7C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165253"/>
            <a:ext cx="155004" cy="12397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99071" y="4145161"/>
            <a:ext cx="8082037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Pause — think it through before continuing.</a:t>
            </a:r>
            <a:endParaRPr lang="en-US" sz="9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17401"/>
            <a:ext cx="807318" cy="198462"/>
          </a:xfrm>
          <a:prstGeom prst="roundRect">
            <a:avLst>
              <a:gd name="adj" fmla="val 22126"/>
            </a:avLst>
          </a:prstGeom>
          <a:solidFill>
            <a:srgbClr val="FED7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4477" y="556543"/>
            <a:ext cx="1107802" cy="12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KC-2 REVEAL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64009"/>
            <a:ext cx="8151763" cy="816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KC-2 — Choose the Correct Hypercare Responsibility (Reveal)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496119" y="1761455"/>
            <a:ext cx="4015606" cy="967978"/>
          </a:xfrm>
          <a:prstGeom prst="roundRect">
            <a:avLst>
              <a:gd name="adj" fmla="val 567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1077" y="1906414"/>
            <a:ext cx="372568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1077" y="2182788"/>
            <a:ext cx="372568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Escalate to Cornerstone GCS — deeplink reconfiguration is a GCS responsibility during hypercare.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32201" y="1761455"/>
            <a:ext cx="4015680" cy="967978"/>
          </a:xfrm>
          <a:prstGeom prst="roundRect">
            <a:avLst>
              <a:gd name="adj" fmla="val 5671"/>
            </a:avLst>
          </a:prstGeom>
          <a:solidFill>
            <a:srgbClr val="FFFFFF"/>
          </a:solidFill>
          <a:ln w="14288">
            <a:solidFill>
              <a:srgbClr val="FA46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77160" y="1906414"/>
            <a:ext cx="37257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✓ B — Correct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77160" y="2182788"/>
            <a:ext cx="3725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Remap the broken edcast.com deeplinks to SmartCard links and test each one in the customer environment.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6119" y="2849910"/>
            <a:ext cx="4015606" cy="967978"/>
          </a:xfrm>
          <a:prstGeom prst="roundRect">
            <a:avLst>
              <a:gd name="adj" fmla="val 567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1077" y="2994868"/>
            <a:ext cx="372568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1077" y="3271242"/>
            <a:ext cx="372568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Inform the customer that deeplink redirects will be available in the November 2026 release.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2201" y="2849910"/>
            <a:ext cx="4015680" cy="967978"/>
          </a:xfrm>
          <a:prstGeom prst="roundRect">
            <a:avLst>
              <a:gd name="adj" fmla="val 5671"/>
            </a:avLst>
          </a:prstGeom>
          <a:solidFill>
            <a:srgbClr val="FFFFFF"/>
          </a:solidFill>
          <a:ln w="14288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7160" y="2994868"/>
            <a:ext cx="37257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77160" y="3271242"/>
            <a:ext cx="3725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a support case and wait for Cornerstone Engineering to restore the original deeplinks.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2125" y="4088904"/>
            <a:ext cx="795575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Explanation:</a:t>
            </a:r>
            <a:r>
              <a:rPr lang="en-US" sz="10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Deeplink reconfiguration is a partner responsibility during hypercare. There is no redirect plan for edcast.com links — they must be manually remapped to SmartCard links by the partner.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6119" y="3953396"/>
            <a:ext cx="14288" cy="672703"/>
          </a:xfrm>
          <a:prstGeom prst="roundRect">
            <a:avLst>
              <a:gd name="adj" fmla="val 49998"/>
            </a:avLst>
          </a:prstGeom>
          <a:solidFill>
            <a:srgbClr val="FA46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8532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Replace This Mental Model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82676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A461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✗ Wrong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63601"/>
            <a:ext cx="1880592" cy="7752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424410"/>
            <a:ext cx="14827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Migration = standard implementation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8470" y="2263601"/>
            <a:ext cx="1880592" cy="7752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55478" y="2424410"/>
            <a:ext cx="14827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Same approach, same role assignments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647605" y="1740917"/>
            <a:ext cx="4107135" cy="2317254"/>
          </a:xfrm>
          <a:prstGeom prst="roundRect">
            <a:avLst>
              <a:gd name="adj" fmla="val 4405"/>
            </a:avLst>
          </a:prstGeom>
          <a:solidFill>
            <a:srgbClr val="004F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4789363" y="1882676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✓ Correct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789363" y="2263601"/>
            <a:ext cx="1840929" cy="746671"/>
          </a:xfrm>
          <a:prstGeom prst="roundRect">
            <a:avLst>
              <a:gd name="adj" fmla="val 7974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935885" y="2410123"/>
            <a:ext cx="15478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Distinct role assignments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772052" y="2263601"/>
            <a:ext cx="1840929" cy="746671"/>
          </a:xfrm>
          <a:prstGeom prst="roundRect">
            <a:avLst>
              <a:gd name="adj" fmla="val 7974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918573" y="2410123"/>
            <a:ext cx="15478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gates — hard stops, not checkboxes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89363" y="3152031"/>
            <a:ext cx="1840929" cy="746671"/>
          </a:xfrm>
          <a:prstGeom prst="roundRect">
            <a:avLst>
              <a:gd name="adj" fmla="val 7974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935885" y="3298552"/>
            <a:ext cx="15478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Cohort-specific failure modes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772052" y="3152031"/>
            <a:ext cx="1840929" cy="746671"/>
          </a:xfrm>
          <a:prstGeom prst="roundRect">
            <a:avLst>
              <a:gd name="adj" fmla="val 7974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918573" y="3298552"/>
            <a:ext cx="15478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Hypercare window — partner executes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26554"/>
            <a:ext cx="1165547" cy="205234"/>
          </a:xfrm>
          <a:prstGeom prst="roundRect">
            <a:avLst>
              <a:gd name="adj" fmla="val 22122"/>
            </a:avLst>
          </a:prstGeom>
          <a:solidFill>
            <a:srgbClr val="FED7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7155" y="567035"/>
            <a:ext cx="1460674" cy="124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LESSON 1 SUMMARY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83282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40404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Lesson 1 Summary</a:t>
            </a:r>
            <a:endParaRPr lang="en-US" sz="2650" dirty="0"/>
          </a:p>
        </p:txBody>
      </p:sp>
      <p:sp>
        <p:nvSpPr>
          <p:cNvPr id="5" name="Shape 3"/>
          <p:cNvSpPr/>
          <p:nvPr/>
        </p:nvSpPr>
        <p:spPr>
          <a:xfrm>
            <a:off x="496119" y="1398761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8836" y="1442665"/>
            <a:ext cx="771904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M09 builds on M08 readiness — execution starts here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6119" y="1960290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28836" y="2004194"/>
            <a:ext cx="771904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Cohort 1 and Cohort 2 have distinct workflows and failure modes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6119" y="2521818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8836" y="2565722"/>
            <a:ext cx="771904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gates are hard stops — verify before proceeding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6119" y="3083347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28836" y="3127251"/>
            <a:ext cx="771904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GCS executes migrations — partners execute rebuilds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6119" y="3644875"/>
            <a:ext cx="303981" cy="303981"/>
          </a:xfrm>
          <a:prstGeom prst="roundRect">
            <a:avLst>
              <a:gd name="adj" fmla="val 18669"/>
            </a:avLst>
          </a:prstGeom>
          <a:solidFill>
            <a:srgbClr val="FED7CD"/>
          </a:solidFill>
          <a:ln w="4763">
            <a:solidFill>
              <a:srgbClr val="E4BDB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28836" y="3688779"/>
            <a:ext cx="771904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Hypercare is the partner's execution window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6119" y="4093741"/>
            <a:ext cx="8151763" cy="523131"/>
          </a:xfrm>
          <a:prstGeom prst="roundRect">
            <a:avLst>
              <a:gd name="adj" fmla="val 10848"/>
            </a:avLst>
          </a:prstGeom>
          <a:solidFill>
            <a:srgbClr val="FED7C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80" y="4276055"/>
            <a:ext cx="168846" cy="13506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35087" y="4256187"/>
            <a:ext cx="803493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Next: Lesson 2 — Execute the Cohort 1 Migration Workflow →</a:t>
            </a:r>
            <a:endParaRPr lang="en-US" sz="10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9892" y="131118"/>
            <a:ext cx="264914" cy="21967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78622" y="4842942"/>
            <a:ext cx="2386757" cy="119063"/>
          </a:xfrm>
          <a:prstGeom prst="rect">
            <a:avLst/>
          </a:prstGeom>
          <a:noFill/>
          <a:ln/>
        </p:spPr>
        <p:txBody>
          <a:bodyPr wrap="none" lIns="0" tIns="44657" rIns="44657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© 2026 Cornerstone. All rights reserved.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4B5225-3686-469A-8D41-EA3AEA85759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c459d32-f338-472b-851e-10d8735befb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992</Words>
  <Application>Microsoft Office PowerPoint</Application>
  <PresentationFormat>On-screen Show (16:9)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DM Sans Bold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Sundar Nagarathnam</cp:lastModifiedBy>
  <cp:revision>3</cp:revision>
  <dcterms:created xsi:type="dcterms:W3CDTF">2026-08-11T06:54:26Z</dcterms:created>
  <dcterms:modified xsi:type="dcterms:W3CDTF">2026-08-11T16:12:53Z</dcterms:modified>
</cp:coreProperties>
</file>